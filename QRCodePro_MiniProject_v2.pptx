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2" r:id="rId7"/>
    <p:sldId id="270" r:id="rId8"/>
    <p:sldId id="263" r:id="rId9"/>
    <p:sldId id="264" r:id="rId10"/>
    <p:sldId id="265" r:id="rId11"/>
    <p:sldId id="266" r:id="rId12"/>
    <p:sldId id="267" r:id="rId13"/>
    <p:sldId id="271" r:id="rId21"/>
    <p:sldId id="272" r:id="rId22"/>
    <p:sldId id="273" r:id="rId23"/>
    <p:sldId id="274" r:id="rId24"/>
    <p:sldId id="275" r:id="rId25"/>
    <p:sldId id="269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85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1301" y="317"/>
      </p:cViewPr>
      <p:guideLst>
        <p:guide orient="horz" pos="2185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openxmlformats.org/officeDocument/2006/relationships/slide" Target="slides/slide13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dil Parmar" userId="79ff4957440b3f89" providerId="LiveId" clId="{1ECED48B-DB6D-43AF-A93A-10E6AE4605FB}"/>
    <pc:docChg chg="modSld">
      <pc:chgData name="Aadil Parmar" userId="79ff4957440b3f89" providerId="LiveId" clId="{1ECED48B-DB6D-43AF-A93A-10E6AE4605FB}" dt="2026-03-06T08:55:37.319" v="4" actId="14100"/>
      <pc:docMkLst>
        <pc:docMk/>
      </pc:docMkLst>
      <pc:sldChg chg="modSp mod">
        <pc:chgData name="Aadil Parmar" userId="79ff4957440b3f89" providerId="LiveId" clId="{1ECED48B-DB6D-43AF-A93A-10E6AE4605FB}" dt="2026-03-06T08:54:05.549" v="3" actId="20577"/>
        <pc:sldMkLst>
          <pc:docMk/>
          <pc:sldMk cId="0" sldId="262"/>
        </pc:sldMkLst>
        <pc:spChg chg="mod">
          <ac:chgData name="Aadil Parmar" userId="79ff4957440b3f89" providerId="LiveId" clId="{1ECED48B-DB6D-43AF-A93A-10E6AE4605FB}" dt="2026-03-06T08:54:05.549" v="3" actId="20577"/>
          <ac:spMkLst>
            <pc:docMk/>
            <pc:sldMk cId="0" sldId="262"/>
            <ac:spMk id="12" creationId="{00000000-0000-0000-0000-000000000000}"/>
          </ac:spMkLst>
        </pc:spChg>
      </pc:sldChg>
      <pc:sldChg chg="modSp mod">
        <pc:chgData name="Aadil Parmar" userId="79ff4957440b3f89" providerId="LiveId" clId="{1ECED48B-DB6D-43AF-A93A-10E6AE4605FB}" dt="2026-03-06T08:55:37.319" v="4" actId="14100"/>
        <pc:sldMkLst>
          <pc:docMk/>
          <pc:sldMk cId="0" sldId="267"/>
        </pc:sldMkLst>
        <pc:spChg chg="mod">
          <ac:chgData name="Aadil Parmar" userId="79ff4957440b3f89" providerId="LiveId" clId="{1ECED48B-DB6D-43AF-A93A-10E6AE4605FB}" dt="2026-03-06T08:55:37.319" v="4" actId="14100"/>
          <ac:spMkLst>
            <pc:docMk/>
            <pc:sldMk cId="0" sldId="267"/>
            <ac:spMk id="12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DC403F0C-5666-B80F-5C59-092AD13A4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61134D5F-C825-F738-8B3C-6F5E920CFB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EE49CB99-76EF-863C-6B4F-51EBA9FF90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59586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"/>
          <p:cNvSpPr txBox="1"/>
          <p:nvPr/>
        </p:nvSpPr>
        <p:spPr>
          <a:xfrm>
            <a:off x="2551176" y="1051560"/>
            <a:ext cx="7095744" cy="132588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3200" b="1" i="0" dirty="0">
                <a:solidFill>
                  <a:srgbClr val="04A2B9"/>
                </a:solidFill>
                <a:latin typeface="Calibri" panose="020F0502020204030204" pitchFamily="34" charset="0"/>
              </a:rPr>
              <a:t>Mini Project (01CE0609)</a:t>
            </a:r>
          </a:p>
          <a:p>
            <a:pPr algn="ctr"/>
            <a:r>
              <a:rPr lang="en-US" sz="3200" b="1" i="0" dirty="0">
                <a:solidFill>
                  <a:srgbClr val="04A2B9"/>
                </a:solidFill>
                <a:latin typeface="Calibri" panose="020F0502020204030204" pitchFamily="34" charset="0"/>
              </a:rPr>
              <a:t>Semester 6</a:t>
            </a:r>
          </a:p>
          <a:p>
            <a:pPr algn="ctr"/>
            <a:r>
              <a:rPr lang="en-US" sz="2200" b="0" i="0" dirty="0">
                <a:solidFill>
                  <a:srgbClr val="04A2B9"/>
                </a:solidFill>
                <a:latin typeface="Calibri" panose="020F0502020204030204" pitchFamily="34" charset="0"/>
              </a:rPr>
              <a:t>Review 1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1613857" y="2412609"/>
            <a:ext cx="8964285" cy="86868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2800" b="0" i="0" dirty="0">
                <a:solidFill>
                  <a:srgbClr val="FF0000"/>
                </a:solidFill>
                <a:latin typeface="Calibri" panose="020F0502020204030204" pitchFamily="34" charset="0"/>
              </a:rPr>
              <a:t>QR CODE GENERATOR WITH CUSTOM LOGO &amp; COLORS  </a:t>
            </a:r>
          </a:p>
          <a:p>
            <a:pPr algn="ctr"/>
            <a:r>
              <a:rPr lang="en-US" sz="2200" b="0" i="0" dirty="0">
                <a:solidFill>
                  <a:srgbClr val="04A2B9"/>
                </a:solidFill>
                <a:latin typeface="Calibri" panose="020F0502020204030204" pitchFamily="34" charset="0"/>
              </a:rPr>
              <a:t>Team ID:TC_084</a:t>
            </a:r>
          </a:p>
        </p:txBody>
      </p:sp>
      <p:sp>
        <p:nvSpPr>
          <p:cNvPr id="13" name="team"/>
          <p:cNvSpPr txBox="1"/>
          <p:nvPr/>
        </p:nvSpPr>
        <p:spPr>
          <a:xfrm>
            <a:off x="3374136" y="3281289"/>
            <a:ext cx="5833872" cy="1143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800" b="0" i="0" dirty="0">
                <a:solidFill>
                  <a:srgbClr val="1F1F1F"/>
                </a:solidFill>
                <a:latin typeface="Calibri" panose="020F0502020204030204" pitchFamily="34" charset="0"/>
              </a:rPr>
              <a:t>Team Member 1: Aadil Parmar  (92200103068)  (6EC3)</a:t>
            </a:r>
          </a:p>
          <a:p>
            <a:r>
              <a:rPr lang="en-US" sz="1800" b="0" i="0" dirty="0">
                <a:solidFill>
                  <a:srgbClr val="1F1F1F"/>
                </a:solidFill>
                <a:latin typeface="Calibri" panose="020F0502020204030204" pitchFamily="34" charset="0"/>
              </a:rPr>
              <a:t>Team Member 2: Dhruvil Janani  (92420103002)  (</a:t>
            </a:r>
            <a:r>
              <a:rPr lang="en-US" sz="1800" dirty="0">
                <a:solidFill>
                  <a:srgbClr val="1F1F1F"/>
                </a:solidFill>
                <a:latin typeface="Calibri" panose="020F0502020204030204" pitchFamily="34" charset="0"/>
              </a:rPr>
              <a:t>6EC3</a:t>
            </a:r>
            <a:r>
              <a:rPr lang="en-US" sz="1800" b="0" i="0" dirty="0">
                <a:solidFill>
                  <a:srgbClr val="1F1F1F"/>
                </a:solidFill>
                <a:latin typeface="Calibri" panose="020F0502020204030204" pitchFamily="34" charset="0"/>
              </a:rPr>
              <a:t>)</a:t>
            </a:r>
          </a:p>
          <a:p>
            <a:r>
              <a:rPr lang="en-US" sz="1800" b="0" i="0" dirty="0">
                <a:solidFill>
                  <a:srgbClr val="1F1F1F"/>
                </a:solidFill>
                <a:latin typeface="Calibri" panose="020F0502020204030204" pitchFamily="34" charset="0"/>
              </a:rPr>
              <a:t>Team Member 3: Dhaval Chauhan  (92100103297)  (</a:t>
            </a:r>
            <a:r>
              <a:rPr lang="en-US" sz="1800" dirty="0">
                <a:solidFill>
                  <a:srgbClr val="1F1F1F"/>
                </a:solidFill>
                <a:latin typeface="Calibri" panose="020F0502020204030204" pitchFamily="34" charset="0"/>
              </a:rPr>
              <a:t>6EC3</a:t>
            </a:r>
            <a:r>
              <a:rPr lang="en-US" sz="1800" b="0" i="0" dirty="0">
                <a:solidFill>
                  <a:srgbClr val="1F1F1F"/>
                </a:solidFill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14" name="guided"/>
          <p:cNvSpPr txBox="1"/>
          <p:nvPr/>
        </p:nvSpPr>
        <p:spPr>
          <a:xfrm>
            <a:off x="5486048" y="4175643"/>
            <a:ext cx="1152847" cy="41148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1800" b="0" i="0" dirty="0">
                <a:solidFill>
                  <a:srgbClr val="595959"/>
                </a:solidFill>
                <a:latin typeface="Calibri" panose="020F0502020204030204" pitchFamily="34" charset="0"/>
              </a:rPr>
              <a:t>Guided By</a:t>
            </a:r>
          </a:p>
        </p:txBody>
      </p:sp>
      <p:sp>
        <p:nvSpPr>
          <p:cNvPr id="15" name="guide"/>
          <p:cNvSpPr txBox="1"/>
          <p:nvPr/>
        </p:nvSpPr>
        <p:spPr>
          <a:xfrm>
            <a:off x="3191255" y="4501309"/>
            <a:ext cx="5742432" cy="749808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1800" b="0" i="0" dirty="0">
                <a:solidFill>
                  <a:srgbClr val="1F1F1F"/>
                </a:solidFill>
                <a:latin typeface="Calibri" panose="020F0502020204030204" pitchFamily="34" charset="0"/>
              </a:rPr>
              <a:t>Project Guide</a:t>
            </a:r>
          </a:p>
          <a:p>
            <a:pPr algn="ctr"/>
            <a:r>
              <a:rPr lang="en-US" sz="1800" b="0" i="0" dirty="0">
                <a:solidFill>
                  <a:srgbClr val="FF0000"/>
                </a:solidFill>
                <a:latin typeface="Calibri" panose="020F0502020204030204" pitchFamily="34" charset="0"/>
              </a:rPr>
              <a:t>Prof. Niraj Bhagchandani</a:t>
            </a:r>
          </a:p>
        </p:txBody>
      </p:sp>
      <p:sp>
        <p:nvSpPr>
          <p:cNvPr id="16" name="dept"/>
          <p:cNvSpPr txBox="1"/>
          <p:nvPr/>
        </p:nvSpPr>
        <p:spPr>
          <a:xfrm>
            <a:off x="1370368" y="5223685"/>
            <a:ext cx="9384206" cy="841248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2400" b="0" i="0" dirty="0">
                <a:solidFill>
                  <a:srgbClr val="04A2B9"/>
                </a:solidFill>
                <a:latin typeface="Calibri" panose="020F0502020204030204" pitchFamily="34" charset="0"/>
              </a:rPr>
              <a:t>Department of Computer Engineering,  Faculty of Engineering &amp;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530352" y="310896"/>
            <a:ext cx="45720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400" b="1" i="0" dirty="0">
                <a:solidFill>
                  <a:srgbClr val="04A2B9"/>
                </a:solidFill>
                <a:latin typeface="Calibri" panose="020F0502020204030204" pitchFamily="34" charset="0"/>
              </a:rPr>
              <a:t>Project Outline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614055" y="1364918"/>
            <a:ext cx="9585022" cy="4728151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spcAft>
                <a:spcPts val="400"/>
              </a:spcAft>
            </a:pPr>
            <a:r>
              <a:rPr lang="en-US" sz="2200" b="0" i="0" dirty="0">
                <a:solidFill>
                  <a:srgbClr val="666666"/>
                </a:solidFill>
                <a:latin typeface="Calibri" panose="020F0502020204030204" pitchFamily="34" charset="0"/>
              </a:rPr>
              <a:t>1.   Introduction &amp; Problem Statement</a:t>
            </a:r>
          </a:p>
          <a:p>
            <a:pPr algn="l">
              <a:spcAft>
                <a:spcPts val="400"/>
              </a:spcAft>
            </a:pPr>
            <a:r>
              <a:rPr lang="en-US" sz="2200" b="0" i="0" dirty="0">
                <a:solidFill>
                  <a:srgbClr val="666666"/>
                </a:solidFill>
                <a:latin typeface="Calibri" panose="020F0502020204030204" pitchFamily="34" charset="0"/>
              </a:rPr>
              <a:t>2.   Objectives</a:t>
            </a:r>
          </a:p>
          <a:p>
            <a:pPr algn="l">
              <a:spcAft>
                <a:spcPts val="400"/>
              </a:spcAft>
            </a:pPr>
            <a:r>
              <a:rPr lang="en-US" sz="2200" b="0" i="0" dirty="0">
                <a:solidFill>
                  <a:srgbClr val="666666"/>
                </a:solidFill>
                <a:latin typeface="Calibri" panose="020F0502020204030204" pitchFamily="34" charset="0"/>
              </a:rPr>
              <a:t>3.   System Architecture</a:t>
            </a:r>
          </a:p>
          <a:p>
            <a:pPr algn="l">
              <a:spcAft>
                <a:spcPts val="400"/>
              </a:spcAft>
            </a:pPr>
            <a:r>
              <a:rPr lang="en-US" sz="2200" b="0" i="0" dirty="0">
                <a:solidFill>
                  <a:srgbClr val="666666"/>
                </a:solidFill>
                <a:latin typeface="Calibri" panose="020F0502020204030204" pitchFamily="34" charset="0"/>
              </a:rPr>
              <a:t>4.   Key Features — 24+ QR Types</a:t>
            </a:r>
          </a:p>
          <a:p>
            <a:pPr algn="l">
              <a:spcAft>
                <a:spcPts val="400"/>
              </a:spcAft>
            </a:pPr>
            <a:r>
              <a:rPr lang="en-US" sz="2200" b="0" i="0" dirty="0">
                <a:solidFill>
                  <a:srgbClr val="666666"/>
                </a:solidFill>
                <a:latin typeface="Calibri" panose="020F0502020204030204" pitchFamily="34" charset="0"/>
              </a:rPr>
              <a:t>5.   Customization &amp; Design Options</a:t>
            </a:r>
          </a:p>
          <a:p>
            <a:pPr algn="l">
              <a:spcAft>
                <a:spcPts val="400"/>
              </a:spcAft>
            </a:pPr>
            <a:r>
              <a:rPr lang="en-US" sz="2200" b="0" i="0" dirty="0">
                <a:solidFill>
                  <a:srgbClr val="666666"/>
                </a:solidFill>
                <a:latin typeface="Calibri" panose="020F0502020204030204" pitchFamily="34" charset="0"/>
              </a:rPr>
              <a:t>6.   Technology Stack</a:t>
            </a:r>
          </a:p>
          <a:p>
            <a:pPr algn="l">
              <a:spcAft>
                <a:spcPts val="400"/>
              </a:spcAft>
            </a:pPr>
            <a:r>
              <a:rPr lang="en-US" sz="2200" b="0" i="0" dirty="0">
                <a:solidFill>
                  <a:srgbClr val="666666"/>
                </a:solidFill>
                <a:latin typeface="Calibri" panose="020F0502020204030204" pitchFamily="34" charset="0"/>
              </a:rPr>
              <a:t>7.   Implementation Highlights</a:t>
            </a:r>
          </a:p>
          <a:p>
            <a:pPr algn="l">
              <a:spcAft>
                <a:spcPts val="400"/>
              </a:spcAft>
            </a:pPr>
            <a:r>
              <a:rPr lang="en-US" sz="2200" b="0" i="0" dirty="0">
                <a:solidFill>
                  <a:srgbClr val="666666"/>
                </a:solidFill>
                <a:latin typeface="Calibri" panose="020F0502020204030204" pitchFamily="34" charset="0"/>
              </a:rPr>
              <a:t>8.   Future Scope</a:t>
            </a:r>
          </a:p>
          <a:p>
            <a:pPr algn="l">
              <a:spcAft>
                <a:spcPts val="400"/>
              </a:spcAft>
            </a:pPr>
            <a:r>
              <a:rPr lang="en-US" sz="2200" b="0" i="0" dirty="0">
                <a:solidFill>
                  <a:srgbClr val="666666"/>
                </a:solidFill>
                <a:latin typeface="Calibri" panose="020F0502020204030204" pitchFamily="34" charset="0"/>
              </a:rPr>
              <a:t>9.   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530352" y="310896"/>
            <a:ext cx="109728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400" b="1" i="0" dirty="0">
                <a:solidFill>
                  <a:srgbClr val="04A2B9"/>
                </a:solidFill>
                <a:latin typeface="Calibri" panose="020F0502020204030204" pitchFamily="34" charset="0"/>
              </a:rPr>
              <a:t>Introduction &amp; Problem Statement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530352" y="1336431"/>
            <a:ext cx="11430000" cy="530352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spcAft>
                <a:spcPts val="300"/>
              </a:spcAft>
            </a:pPr>
            <a:r>
              <a:rPr lang="en-US" sz="2000" b="1" i="0" dirty="0">
                <a:solidFill>
                  <a:srgbClr val="04A2B9"/>
                </a:solidFill>
                <a:latin typeface="Calibri" panose="020F0502020204030204" pitchFamily="34" charset="0"/>
              </a:rPr>
              <a:t>Introduction</a:t>
            </a:r>
          </a:p>
          <a:p>
            <a:pPr algn="l"/>
            <a:endParaRPr lang="en-US" sz="2000" b="1" i="0" dirty="0">
              <a:solidFill>
                <a:srgbClr val="04A2B9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QR Code Generator Pro is a full-featured, open-source web application built with PHP 8.0+ and SQLite3.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It enables users to generate, customize, save and manage professional QR codes of 24+ types from a single unified platform.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>
              <a:spcAft>
                <a:spcPts val="300"/>
              </a:spcAft>
            </a:pPr>
            <a:r>
              <a:rPr lang="en-US" sz="2000" b="1" i="0" dirty="0">
                <a:solidFill>
                  <a:srgbClr val="04A2B9"/>
                </a:solidFill>
                <a:latin typeface="Calibri" panose="020F0502020204030204" pitchFamily="34" charset="0"/>
              </a:rPr>
              <a:t>Problem Statement</a:t>
            </a:r>
          </a:p>
          <a:p>
            <a:pPr algn="l"/>
            <a:endParaRPr lang="en-US" sz="2000" b="1" i="0" dirty="0">
              <a:solidFill>
                <a:srgbClr val="04A2B9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Existing QR code tools are either expensive ($20-$100/month), offer minimal customization,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or support only a few QR types (typically just URL). There is no free, open-source, self-hosted solution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that combines rich customization, bulk generation, multi-type support and user history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530352" y="398820"/>
            <a:ext cx="64008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400" b="1" i="0" dirty="0">
                <a:solidFill>
                  <a:srgbClr val="04A2B9"/>
                </a:solidFill>
                <a:latin typeface="Calibri" panose="020F0502020204030204" pitchFamily="34" charset="0"/>
              </a:rPr>
              <a:t>Objectives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530352" y="1753186"/>
            <a:ext cx="11430000" cy="5029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1.   Develop a web application that generates 24+ types of QR codes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2.   Implement 10 deep customization options including dot patterns,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    gradient colors, logos, eye shapes, frames, and drop shadows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3.   Enable bulk QR code generation (up to 100 codes) with ZIP download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4.   Build a user authentication system with secure session management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5.   Store QR code history with filtering, deletion, and management features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6.   Provide multi-format export: PNG (up to 2048px), SVG vector, and PDF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7.   Ensure zero external dependencies — runs with PHP + SQLite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530352" y="513119"/>
            <a:ext cx="109728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400" b="1" i="0" dirty="0">
                <a:solidFill>
                  <a:srgbClr val="04A2B9"/>
                </a:solidFill>
                <a:latin typeface="Calibri" panose="020F0502020204030204" pitchFamily="34" charset="0"/>
              </a:rPr>
              <a:t>System Architecture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530352" y="1554480"/>
            <a:ext cx="11430000" cy="530352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spcAft>
                <a:spcPts val="500"/>
              </a:spcAft>
            </a:pPr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The application follows a clean MVC-like separation with auth-first architecture: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1900" b="1" i="0" dirty="0">
                <a:solidFill>
                  <a:srgbClr val="04A2B9"/>
                </a:solidFill>
                <a:latin typeface="Calibri" panose="020F0502020204030204" pitchFamily="34" charset="0"/>
              </a:rPr>
              <a:t>Frontend Layer:</a:t>
            </a:r>
          </a:p>
          <a:p>
            <a:pPr algn="l">
              <a:spcAft>
                <a:spcPts val="500"/>
              </a:spcAft>
            </a:pPr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Tailwind CSS (CDN)  +  Lucide Icons  +  qr-code-styling.js 1.6.0 (client-side QR engine)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1900" b="1" i="0" dirty="0">
                <a:solidFill>
                  <a:srgbClr val="04A2B9"/>
                </a:solidFill>
                <a:latin typeface="Calibri" panose="020F0502020204030204" pitchFamily="34" charset="0"/>
              </a:rPr>
              <a:t>Backend Layer: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PHP 8.0+  |  Auth-first pattern: requireLogin() executes before header.php output</a:t>
            </a:r>
          </a:p>
          <a:p>
            <a:pPr algn="l">
              <a:spcAft>
                <a:spcPts val="500"/>
              </a:spcAft>
            </a:pPr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CSRF token validation on all POST forms  |  bcrypt password hashing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1900" b="1" i="0" dirty="0" err="1">
                <a:solidFill>
                  <a:srgbClr val="04A2B9"/>
                </a:solidFill>
                <a:latin typeface="Calibri" panose="020F0502020204030204" pitchFamily="34" charset="0"/>
              </a:rPr>
              <a:t>DataBase</a:t>
            </a:r>
            <a:r>
              <a:rPr lang="en-US" sz="1900" b="1" i="0" dirty="0">
                <a:solidFill>
                  <a:srgbClr val="04A2B9"/>
                </a:solidFill>
                <a:latin typeface="Calibri" panose="020F0502020204030204" pitchFamily="34" charset="0"/>
              </a:rPr>
              <a:t> Layer:</a:t>
            </a:r>
          </a:p>
          <a:p>
            <a:pPr algn="l">
              <a:spcAft>
                <a:spcPts val="500"/>
              </a:spcAft>
            </a:pPr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SQLite3 (zero-config)  |  Tables: users, qr_codes  |  Auto schema creation on startup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1900" b="1" i="0" dirty="0">
                <a:solidFill>
                  <a:srgbClr val="04A2B9"/>
                </a:solidFill>
                <a:latin typeface="Calibri" panose="020F0502020204030204" pitchFamily="34" charset="0"/>
              </a:rPr>
              <a:t>Export Pipeline: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PNG canvas composite (frame + shadow baked in)  |  SVG vector  |  JSZip bulk archive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0B7430EF-BA10-FE1F-7307-A602419A9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"/>
          <p:cNvSpPr txBox="1"/>
          <p:nvPr/>
        </p:nvSpPr>
        <p:spPr>
          <a:xfrm>
            <a:off x="530352" y="1384795"/>
            <a:ext cx="10349851" cy="5185459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900" b="1" i="0" dirty="0">
                <a:solidFill>
                  <a:srgbClr val="04A2B9"/>
                </a:solidFill>
                <a:latin typeface="Calibri" panose="020F0502020204030204" pitchFamily="34" charset="0"/>
              </a:rPr>
              <a:t>Communication &amp; Contact:</a:t>
            </a:r>
          </a:p>
          <a:p>
            <a:pPr algn="l">
              <a:spcAft>
                <a:spcPts val="500"/>
              </a:spcAft>
            </a:pPr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URL / Link  |  Email  |  SMS  |  Phone Call  |  WhatsApp  |  vCard Contact  |  MeCard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1900" b="1" i="0" dirty="0">
                <a:solidFill>
                  <a:srgbClr val="04A2B9"/>
                </a:solidFill>
                <a:latin typeface="Calibri" panose="020F0502020204030204" pitchFamily="34" charset="0"/>
              </a:rPr>
              <a:t>Networking &amp; Access:</a:t>
            </a:r>
          </a:p>
          <a:p>
            <a:pPr algn="l">
              <a:spcAft>
                <a:spcPts val="500"/>
              </a:spcAft>
            </a:pPr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WiFi Network  |  Geo Location  |  Event (iCal)  |  Zoom Meeting Link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1900" b="1" i="0" dirty="0">
                <a:solidFill>
                  <a:srgbClr val="04A2B9"/>
                </a:solidFill>
                <a:latin typeface="Calibri" panose="020F0502020204030204" pitchFamily="34" charset="0"/>
              </a:rPr>
              <a:t>Payments &amp; Finance:</a:t>
            </a:r>
          </a:p>
          <a:p>
            <a:pPr algn="l">
              <a:spcAft>
                <a:spcPts val="500"/>
              </a:spcAft>
            </a:pPr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UPI Payment  |  Bitcoin / Crypto Wallet Address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1900" b="1" i="0" dirty="0">
                <a:solidFill>
                  <a:srgbClr val="04A2B9"/>
                </a:solidFill>
                <a:latin typeface="Calibri" panose="020F0502020204030204" pitchFamily="34" charset="0"/>
              </a:rPr>
              <a:t>Social &amp; Media Platforms:</a:t>
            </a:r>
          </a:p>
          <a:p>
            <a:pPr algn="l">
              <a:spcAft>
                <a:spcPts val="500"/>
              </a:spcAft>
            </a:pPr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YouTube  |  Twitter/X  |  Instagram  |  Facebook  |  LinkedIn  |  Spotify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1900" b="1" i="0" dirty="0">
                <a:solidFill>
                  <a:srgbClr val="04A2B9"/>
                </a:solidFill>
                <a:latin typeface="Calibri" panose="020F0502020204030204" pitchFamily="34" charset="0"/>
              </a:rPr>
              <a:t>Documents &amp; Files:</a:t>
            </a:r>
          </a:p>
          <a:p>
            <a:pPr algn="l">
              <a:spcAft>
                <a:spcPts val="500"/>
              </a:spcAft>
            </a:pPr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PDF File URL  |  Image URL  |  App Store / Play Store Link  |  Plain Text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1800" b="1" i="0" dirty="0">
                <a:solidFill>
                  <a:srgbClr val="FF0000"/>
                </a:solidFill>
                <a:latin typeface="Calibri" panose="020F0502020204030204" pitchFamily="34" charset="0"/>
              </a:rPr>
              <a:t>Power Feature:  Bulk Mode — generate up to 100 QR codes at once, download as ZIP archive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310896"/>
            <a:ext cx="109728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400" b="1" i="0" dirty="0">
                <a:solidFill>
                  <a:srgbClr val="04A2B9"/>
                </a:solidFill>
                <a:latin typeface="Calibri" panose="020F0502020204030204" pitchFamily="34" charset="0"/>
              </a:rPr>
              <a:t>Key Features — 24+ QR Code Types</a:t>
            </a:r>
          </a:p>
        </p:txBody>
      </p:sp>
    </p:spTree>
    <p:extLst>
      <p:ext uri="{BB962C8B-B14F-4D97-AF65-F5344CB8AC3E}">
        <p14:creationId xmlns:p14="http://schemas.microsoft.com/office/powerpoint/2010/main" val="4208422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530352" y="310895"/>
            <a:ext cx="109728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400" b="1" i="0" dirty="0">
                <a:solidFill>
                  <a:srgbClr val="04A2B9"/>
                </a:solidFill>
                <a:latin typeface="Calibri" panose="020F0502020204030204" pitchFamily="34" charset="0"/>
              </a:rPr>
              <a:t>Customization &amp; Design Options (10 Options)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530352" y="1735624"/>
            <a:ext cx="11430000" cy="521208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4A2B9"/>
                </a:solidFill>
                <a:latin typeface="Calibri" panose="020F0502020204030204" pitchFamily="34" charset="0"/>
              </a:rPr>
              <a:t>1.  Dot Pattern:</a:t>
            </a: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Square  |  Dots  |  Rounded  |  Classy  |  Classy+  |  Bubbly (Extra-Rounded)</a:t>
            </a:r>
          </a:p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4A2B9"/>
                </a:solidFill>
                <a:latin typeface="Calibri" panose="020F0502020204030204" pitchFamily="34" charset="0"/>
              </a:rPr>
              <a:t>2.  Dot Color:</a:t>
            </a: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Solid color  |  Linear gradient (with rotation angle)  |  Radial gradient</a:t>
            </a:r>
          </a:p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4A2B9"/>
                </a:solidFill>
                <a:latin typeface="Calibri" panose="020F0502020204030204" pitchFamily="34" charset="0"/>
              </a:rPr>
              <a:t>3.  Background:</a:t>
            </a: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Solid color  |  Linear gradient  |  Fully Transparent (perfect for stickers)</a:t>
            </a:r>
          </a:p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4A2B9"/>
                </a:solidFill>
                <a:latin typeface="Calibri" panose="020F0502020204030204" pitchFamily="34" charset="0"/>
              </a:rPr>
              <a:t>4.  Eye / Corner Shape:</a:t>
            </a: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6 outer frame styles × 2 inner dot styles — configured independently</a:t>
            </a:r>
          </a:p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4A2B9"/>
                </a:solidFill>
                <a:latin typeface="Calibri" panose="020F0502020204030204" pitchFamily="34" charset="0"/>
              </a:rPr>
              <a:t>5.  Eye Color Override:</a:t>
            </a: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Custom corner frame &amp; dot colors separate from main QR dot color</a:t>
            </a:r>
          </a:p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4A2B9"/>
                </a:solidFill>
                <a:latin typeface="Calibri" panose="020F0502020204030204" pitchFamily="34" charset="0"/>
              </a:rPr>
              <a:t>6.  Logo / Watermark:</a:t>
            </a: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Upload file or paste URL  |  Size (10-50%)  |  Margin  |  Hide-dots toggle</a:t>
            </a:r>
          </a:p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4A2B9"/>
                </a:solidFill>
                <a:latin typeface="Calibri" panose="020F0502020204030204" pitchFamily="34" charset="0"/>
              </a:rPr>
              <a:t>7.  Frame &amp; Label:</a:t>
            </a: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Colored border  |  Custom CTA text  |  Label color  |  Corner radius slider</a:t>
            </a:r>
          </a:p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4A2B9"/>
                </a:solidFill>
                <a:latin typeface="Calibri" panose="020F0502020204030204" pitchFamily="34" charset="0"/>
              </a:rPr>
              <a:t>8.  Drop Shadow:</a:t>
            </a: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Blur radius, Offset Y, Shadow color — composited into final PNG download</a:t>
            </a:r>
          </a:p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4A2B9"/>
                </a:solidFill>
                <a:latin typeface="Calibri" panose="020F0502020204030204" pitchFamily="34" charset="0"/>
              </a:rPr>
              <a:t>9.  Quiet Zone:</a:t>
            </a: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Adjustable margin slider (0-30px) ensuring reliable scanner detection</a:t>
            </a:r>
          </a:p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4A2B9"/>
                </a:solidFill>
                <a:latin typeface="Calibri" panose="020F0502020204030204" pitchFamily="34" charset="0"/>
              </a:rPr>
              <a:t>10. Size &amp; Error Correction:</a:t>
            </a: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256 / 512 / 1024 / 2048px export  |  Error level: L / M / Q / 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530352" y="310896"/>
            <a:ext cx="64008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400" b="1" i="0" dirty="0">
                <a:solidFill>
                  <a:srgbClr val="04A2B9"/>
                </a:solidFill>
                <a:latin typeface="Calibri" panose="020F0502020204030204" pitchFamily="34" charset="0"/>
              </a:rPr>
              <a:t>Technology Stack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530352" y="1243584"/>
            <a:ext cx="11430000" cy="530352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spcAft>
                <a:spcPts val="300"/>
              </a:spcAft>
            </a:pPr>
            <a:r>
              <a:rPr lang="en-US" sz="2000" b="1" i="0" dirty="0">
                <a:solidFill>
                  <a:srgbClr val="04A2B9"/>
                </a:solidFill>
                <a:latin typeface="Calibri" panose="020F0502020204030204" pitchFamily="34" charset="0"/>
              </a:rPr>
              <a:t>Backend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Language:    PHP 8.0+  (No framework — pure PHP with MVC-like separation)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Database:    SQLite3 via PDO  (zero-config, auto-creates tables on first run)</a:t>
            </a:r>
          </a:p>
          <a:p>
            <a:pPr algn="l">
              <a:spcAft>
                <a:spcPts val="500"/>
              </a:spcAft>
            </a:pPr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Auth:        Session-based with CSRF protection, bcrypt hashing, session_regenerate_id()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>
              <a:spcAft>
                <a:spcPts val="300"/>
              </a:spcAft>
            </a:pPr>
            <a:r>
              <a:rPr lang="en-US" sz="2000" b="1" i="0" dirty="0">
                <a:solidFill>
                  <a:srgbClr val="04A2B9"/>
                </a:solidFill>
                <a:latin typeface="Calibri" panose="020F0502020204030204" pitchFamily="34" charset="0"/>
              </a:rPr>
              <a:t>Frontend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Styling:     Tailwind CSS (CDN) — zero build step required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Icons:       Lucide Icons (CDN) — clean, consistent SVG icon set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QR Engine:   qr-code-styling v1.6.0 — dots, gradients, logos, eye shapes, canvas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Bulk Export: JSZip v3.10.1 + FileSaver.js v2.0.5 — client-side ZIP creation</a:t>
            </a:r>
          </a:p>
          <a:p>
            <a:pPr algn="l">
              <a:spcAft>
                <a:spcPts val="500"/>
              </a:spcAft>
            </a:pPr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Fonts:       DM Sans + Playfair Display + JetBrains Mono (Google Fonts)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>
              <a:spcAft>
                <a:spcPts val="300"/>
              </a:spcAft>
            </a:pPr>
            <a:r>
              <a:rPr lang="en-US" sz="2000" b="1" i="0" dirty="0">
                <a:solidFill>
                  <a:srgbClr val="04A2B9"/>
                </a:solidFill>
                <a:latin typeface="Calibri" panose="020F0502020204030204" pitchFamily="34" charset="0"/>
              </a:rPr>
              <a:t>Deployment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Server:      Any PHP-compatible host (Apache/Nginx) or:  php -S localhost:8000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Install:     Zero npm / composer — just PHP 8.0+ and a browser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530352" y="415069"/>
            <a:ext cx="109728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400" b="1" i="0" dirty="0">
                <a:solidFill>
                  <a:srgbClr val="04A2B9"/>
                </a:solidFill>
                <a:latin typeface="Calibri" panose="020F0502020204030204" pitchFamily="34" charset="0"/>
              </a:rPr>
              <a:t>Implementation Highlights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530352" y="1243584"/>
            <a:ext cx="11430000" cy="530352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spcAft>
                <a:spcPts val="300"/>
              </a:spcAft>
            </a:pPr>
            <a:r>
              <a:rPr lang="en-US" sz="2000" b="1" i="0" dirty="0">
                <a:solidFill>
                  <a:srgbClr val="04A2B9"/>
                </a:solidFill>
                <a:latin typeface="Calibri" panose="020F0502020204030204" pitchFamily="34" charset="0"/>
              </a:rPr>
              <a:t>File Structure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mr_qr_v1/  →  index.php  |  generate.php  |  dashboard.php  |  history.php  |  bulk.php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auth/      →  login.php  |  register.php  |  profile.php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config/    →  database.php  (PDO SQLite init, auto table creation)</a:t>
            </a:r>
          </a:p>
          <a:p>
            <a:pPr algn="l">
              <a:spcAft>
                <a:spcPts val="500"/>
              </a:spcAft>
            </a:pPr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includes/  →  header.php  |  footer.php  |  auth.php  |  functions.php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>
              <a:spcAft>
                <a:spcPts val="300"/>
              </a:spcAft>
            </a:pPr>
            <a:r>
              <a:rPr lang="en-US" sz="2000" b="1" i="0" dirty="0">
                <a:solidFill>
                  <a:srgbClr val="04A2B9"/>
                </a:solidFill>
                <a:latin typeface="Calibri" panose="020F0502020204030204" pitchFamily="34" charset="0"/>
              </a:rPr>
              <a:t>Key Implementation Decisions</a:t>
            </a:r>
          </a:p>
          <a:p>
            <a:pPr algn="l"/>
            <a:r>
              <a:rPr lang="en-US" sz="1800" b="1" i="0" dirty="0">
                <a:solidFill>
                  <a:srgbClr val="04A2B9"/>
                </a:solidFill>
                <a:latin typeface="Calibri" panose="020F0502020204030204" pitchFamily="34" charset="0"/>
              </a:rPr>
              <a:t>   Auth-first Pattern: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   requireLogin() and POST handlers execute before header.php to prevent header-after-HTML bugs</a:t>
            </a:r>
          </a:p>
          <a:p>
            <a:pPr algn="l"/>
            <a:r>
              <a:rPr lang="en-US" sz="1800" b="1" i="0" dirty="0">
                <a:solidFill>
                  <a:srgbClr val="04A2B9"/>
                </a:solidFill>
                <a:latin typeface="Calibri" panose="020F0502020204030204" pitchFamily="34" charset="0"/>
              </a:rPr>
              <a:t>   Live QR Preview: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   Debounced (160ms) QRCodeStyling re-render on every form change — instant visual feedback</a:t>
            </a:r>
          </a:p>
          <a:p>
            <a:pPr algn="l"/>
            <a:r>
              <a:rPr lang="en-US" sz="1800" b="1" i="0" dirty="0">
                <a:solidFill>
                  <a:srgbClr val="04A2B9"/>
                </a:solidFill>
                <a:latin typeface="Calibri" panose="020F0502020204030204" pitchFamily="34" charset="0"/>
              </a:rPr>
              <a:t>   Export Compositing: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   Frame, shadow, logo composited onto fresh canvas at chosen export resolution (up to 2048px)</a:t>
            </a:r>
          </a:p>
          <a:p>
            <a:pPr algn="l"/>
            <a:r>
              <a:rPr lang="en-US" sz="1800" b="1" i="0" dirty="0">
                <a:solidFill>
                  <a:srgbClr val="04A2B9"/>
                </a:solidFill>
                <a:latin typeface="Calibri" panose="020F0502020204030204" pitchFamily="34" charset="0"/>
              </a:rPr>
              <a:t>   Bulk Generation: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   Iterates up to 100 items, generates QR per item, bundles all PNGs into ZIP via JSZip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530352" y="365760"/>
            <a:ext cx="64008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400" b="1" i="0" dirty="0">
                <a:solidFill>
                  <a:srgbClr val="04A2B9"/>
                </a:solidFill>
                <a:latin typeface="Calibri" panose="020F0502020204030204" pitchFamily="34" charset="0"/>
              </a:rPr>
              <a:t>Future Scope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530352" y="1851950"/>
            <a:ext cx="11430000" cy="5029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1.   Dynamic QR Codes — editable destination URL after printing (redirect service)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2.   QR Code Analytics — scan count tracking with geographic &amp; device breakdowns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3.   Team Workspaces — shared QR libraries with role-based access control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4.   REST API Access — programmatic QR generation for 3rd-party integrations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5.   AI-Powered Logo Matching — auto-suggest frame colors matching brand logo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6.   Mobile Application — Android/iOS app with camera-scan integration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7.   Password-Protected QR Codes — require PIN before revealing encoded content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8.   Folder &amp; Label Organization — tag/folder system for large QR code libraries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9.   White-label Mode — custom branding for agencies and enterprise deployments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10.  Multi-language Support — internationalization (i18n) for global user base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530352" y="310896"/>
            <a:ext cx="64008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400" b="1" i="0" dirty="0">
                <a:solidFill>
                  <a:srgbClr val="04A2B9"/>
                </a:solidFill>
                <a:latin typeface="Calibri" panose="020F0502020204030204" pitchFamily="34" charset="0"/>
              </a:rPr>
              <a:t>References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530352" y="1737360"/>
            <a:ext cx="11368423" cy="4809744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spcAft>
                <a:spcPts val="500"/>
              </a:spcAft>
            </a:pP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[1] qr-code-styling Library, V. Denisov, GitHub, 2021. [Online]. Available: https://github.com/kozakdenys/qr-code-styling</a:t>
            </a:r>
          </a:p>
          <a:p>
            <a:pPr algn="l">
              <a:spcAft>
                <a:spcPts val="500"/>
              </a:spcAft>
            </a:pP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[2] PHP Manual — Session Handling and PDO, The PHP Group. [Online]. Available: https://www.php.net/manual/en/</a:t>
            </a:r>
          </a:p>
          <a:p>
            <a:pPr algn="l">
              <a:spcAft>
                <a:spcPts val="500"/>
              </a:spcAft>
            </a:pP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[3] SQLite Documentation, D. R. Hipp et al., SQLite Consortium. [Online]. Available: https://www.sqlite.org/docs.html</a:t>
            </a:r>
          </a:p>
          <a:p>
            <a:pPr algn="l">
              <a:spcAft>
                <a:spcPts val="500"/>
              </a:spcAft>
            </a:pP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[4] Tailwind CSS Documentation, Tailwind Labs. [Online]. Available: https://tailwindcss.com/docs</a:t>
            </a:r>
          </a:p>
          <a:p>
            <a:pPr algn="l">
              <a:spcAft>
                <a:spcPts val="500"/>
              </a:spcAft>
            </a:pP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[5] JSZip Library Documentation, S. Pages. [Online]. Available: https://stuk.github.io/jszip/</a:t>
            </a:r>
          </a:p>
          <a:p>
            <a:pPr algn="l">
              <a:spcAft>
                <a:spcPts val="500"/>
              </a:spcAft>
            </a:pP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[6] ISO/IEC 18004:2015 — QR Code Bar Code Symbology Specification, ISO, Geneva, 2015.</a:t>
            </a:r>
          </a:p>
          <a:p>
            <a:pPr algn="l">
              <a:spcAft>
                <a:spcPts val="500"/>
              </a:spcAft>
            </a:pP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[7] OWASP Authentication Cheat Sheet, OWASP Foundation. [Online]. Available: https://cheatsheetseries.owasp.org/</a:t>
            </a:r>
          </a:p>
          <a:p>
            <a:pPr algn="l">
              <a:spcAft>
                <a:spcPts val="500"/>
              </a:spcAft>
            </a:pP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[8] Lucide Icons, Lucide Contributors. [Online]. Available: https://lucide.dev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0352" y="31089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04A2B9"/>
                </a:solidFill>
                <a:latin typeface="Calibri"/>
              </a:rPr>
              <a:t>Review 2 — Progress Update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30352" y="1336431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04A2B9"/>
                </a:solidFill>
                <a:latin typeface="Calibri"/>
              </a:rPr>
              <a:t>Work Completed Since Review 1</a:t>
            </a:r>
          </a:p>
          <a:p>
            <a:pPr algn="l"/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1.   GitHub Repository — Source code published for version control &amp; collaboration</a:t>
            </a:r>
          </a:p>
          <a:p>
            <a:pPr algn="l"/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2.   Figma Design Diagrams — Architecture, file structure &amp; user flow visualizations</a:t>
            </a:r>
          </a:p>
          <a:p>
            <a:pPr algn="l"/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3.   Bug Fixes &amp; Improvements — Critical UI bugs, routing issues, and database fixes</a:t>
            </a:r>
          </a:p>
          <a:p>
            <a:pPr algn="l"/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4.   New Pages Added — Contact, Privacy Policy, and About pages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0352" y="31089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04A2B9"/>
                </a:solidFill>
                <a:latin typeface="Calibri"/>
              </a:rPr>
              <a:t>GitHub Repository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30352" y="1336431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04A2B9"/>
                </a:solidFill>
                <a:latin typeface="Calibri"/>
              </a:rPr>
              <a:t>Version Control &amp; Collaboration</a:t>
            </a:r>
          </a:p>
          <a:p>
            <a:pPr algn="l"/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The complete project source code has been published on GitHub for version control,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collaboration, and transparent development tracking.</a:t>
            </a:r>
          </a:p>
          <a:p>
            <a:pPr algn="l"/>
          </a:p>
          <a:p>
            <a:pPr algn="l"/>
            <a:r>
              <a:rPr b="1" sz="1800">
                <a:solidFill>
                  <a:srgbClr val="04A2B9"/>
                </a:solidFill>
                <a:latin typeface="Calibri"/>
              </a:rPr>
              <a:t>   Repository URL:  </a:t>
            </a:r>
            <a:r>
              <a:rPr b="0" sz="1800">
                <a:solidFill>
                  <a:srgbClr val="666666"/>
                </a:solidFill>
                <a:latin typeface="Calibri"/>
              </a:rPr>
              <a:t>https://github.com/aadilparmar/mr_qr</a:t>
            </a:r>
          </a:p>
          <a:p>
            <a:pPr algn="l"/>
          </a:p>
          <a:p>
            <a:pPr algn="l"/>
            <a:r>
              <a:rPr b="1" sz="2000">
                <a:solidFill>
                  <a:srgbClr val="04A2B9"/>
                </a:solidFill>
                <a:latin typeface="Calibri"/>
              </a:rPr>
              <a:t>What’s on GitHub</a:t>
            </a:r>
          </a:p>
          <a:p>
            <a:pPr algn="l"/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Full PHP backend — authentication, database, API, and routing logic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Frontend templates — Tailwind CSS styled pages with responsive design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QR generation engine — 24+ type support with customization options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Bulk generation module — CSV upload, ZIP export, client-side processing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Configuration files — .htaccess, router.php, composer.json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Commit history — tracking all major changes, bug fixes, and feature additions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0352" y="31089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04A2B9"/>
                </a:solidFill>
                <a:latin typeface="Calibri"/>
              </a:rPr>
              <a:t>Figma Design Diagrams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30352" y="1336431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04A2B9"/>
                </a:solidFill>
                <a:latin typeface="Calibri"/>
              </a:rPr>
              <a:t>Architecture &amp; Flow Visualizations</a:t>
            </a:r>
          </a:p>
          <a:p>
            <a:pPr algn="l"/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Created detailed project diagrams in Figma to visualize the system architecture,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file organization, and complete user journey through the application.</a:t>
            </a:r>
          </a:p>
          <a:p>
            <a:pPr algn="l"/>
          </a:p>
          <a:p>
            <a:pPr algn="l"/>
            <a:r>
              <a:rPr b="1" sz="2000">
                <a:solidFill>
                  <a:srgbClr val="04A2B9"/>
                </a:solidFill>
                <a:latin typeface="Calibri"/>
              </a:rPr>
              <a:t>1.  File Structure Diagram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      Visualizes the directory layout, file dependencies, and module organization.</a:t>
            </a:r>
          </a:p>
          <a:p>
            <a:pPr algn="l"/>
            <a:r>
              <a:rPr b="0" sz="1500">
                <a:solidFill>
                  <a:srgbClr val="666666"/>
                </a:solidFill>
                <a:latin typeface="Calibri"/>
              </a:rPr>
              <a:t>            https://www.figma.com/board/mR2OMjb59UNS4fRCe2LLjG</a:t>
            </a:r>
          </a:p>
          <a:p>
            <a:pPr algn="l"/>
          </a:p>
          <a:p>
            <a:pPr algn="l"/>
            <a:r>
              <a:rPr b="1" sz="2000">
                <a:solidFill>
                  <a:srgbClr val="04A2B9"/>
                </a:solidFill>
                <a:latin typeface="Calibri"/>
              </a:rPr>
              <a:t>2.  Full Project Architecture &amp; User Flow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      Maps the complete system architecture including backend, frontend, database,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      and API layer interactions along with the user navigation flow.</a:t>
            </a:r>
          </a:p>
          <a:p>
            <a:pPr algn="l"/>
            <a:r>
              <a:rPr b="0" sz="1500">
                <a:solidFill>
                  <a:srgbClr val="666666"/>
                </a:solidFill>
                <a:latin typeface="Calibri"/>
              </a:rPr>
              <a:t>            https://www.figma.com/board/d6Lujtim5U9fPuMhT8gecQ</a:t>
            </a:r>
          </a:p>
          <a:p>
            <a:pPr algn="l"/>
          </a:p>
          <a:p>
            <a:pPr algn="l"/>
            <a:r>
              <a:rPr b="1" sz="2000">
                <a:solidFill>
                  <a:srgbClr val="04A2B9"/>
                </a:solidFill>
                <a:latin typeface="Calibri"/>
              </a:rPr>
              <a:t>3.  Complete User Flow Diagram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      End-to-end user journey from registration to QR code generation, bulk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      processing, history management, and profile settings.</a:t>
            </a:r>
          </a:p>
          <a:p>
            <a:pPr algn="l"/>
            <a:r>
              <a:rPr b="0" sz="1500">
                <a:solidFill>
                  <a:srgbClr val="666666"/>
                </a:solidFill>
                <a:latin typeface="Calibri"/>
              </a:rPr>
              <a:t>            https://www.figma.com/board/EJlD1DZMkd3p3XYNLSVEKr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0352" y="31089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04A2B9"/>
                </a:solidFill>
                <a:latin typeface="Calibri"/>
              </a:rPr>
              <a:t>Bug Fixes &amp; Improvements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30352" y="1336431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04A2B9"/>
                </a:solidFill>
                <a:latin typeface="Calibri"/>
              </a:rPr>
              <a:t>Critical UI Fixes</a:t>
            </a:r>
          </a:p>
          <a:p>
            <a:pPr algn="l"/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Fixed broken page layouts and responsive design issues across mobile &amp; desktop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Resolved navigation bar rendering glitches and active state highlighting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Fixed flash message display and auto-dismiss timing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Corrected form input styling inconsistencies on generate and profile pages</a:t>
            </a:r>
          </a:p>
          <a:p>
            <a:pPr algn="l"/>
          </a:p>
          <a:p>
            <a:pPr algn="l"/>
            <a:r>
              <a:rPr b="1" sz="2000">
                <a:solidFill>
                  <a:srgbClr val="04A2B9"/>
                </a:solidFill>
                <a:latin typeface="Calibri"/>
              </a:rPr>
              <a:t>Routing &amp; Backend Fixes</a:t>
            </a:r>
          </a:p>
          <a:p>
            <a:pPr algn="l"/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Fixed routing issues — clean URL resolution for both Apache and PHP dev server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Resolved database connection edge cases and schema initialization errors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Fixed session handling bugs affecting login/logout flow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Corrected QR content encoding for phone, SMS, and vCard types</a:t>
            </a:r>
          </a:p>
          <a:p>
            <a:pPr algn="l"/>
          </a:p>
          <a:p>
            <a:pPr algn="l"/>
            <a:r>
              <a:rPr b="1" sz="2000">
                <a:solidFill>
                  <a:srgbClr val="04A2B9"/>
                </a:solidFill>
                <a:latin typeface="Calibri"/>
              </a:rPr>
              <a:t>General Improvements</a:t>
            </a:r>
          </a:p>
          <a:p>
            <a:pPr algn="l"/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Improved overall code quality and consistency across all PHP files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Enhanced error handling and user feedback messages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Optimized page load performance and reduced unnecessary re-renders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0352" y="31089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04A2B9"/>
                </a:solidFill>
                <a:latin typeface="Calibri"/>
              </a:rPr>
              <a:t>New Pages Added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30352" y="1336431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04A2B9"/>
                </a:solidFill>
                <a:latin typeface="Calibri"/>
              </a:rPr>
              <a:t>1.  Contact Page</a:t>
            </a:r>
          </a:p>
          <a:p>
            <a:pPr algn="l"/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User inquiry form with name, email, subject, and message fields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Server-side validation and CSRF protection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Flash message confirmation on successful submission</a:t>
            </a:r>
          </a:p>
          <a:p>
            <a:pPr algn="l"/>
          </a:p>
          <a:p>
            <a:pPr algn="l"/>
            <a:r>
              <a:rPr b="1" sz="2000">
                <a:solidFill>
                  <a:srgbClr val="04A2B9"/>
                </a:solidFill>
                <a:latin typeface="Calibri"/>
              </a:rPr>
              <a:t>2.  Privacy Policy Page</a:t>
            </a:r>
          </a:p>
          <a:p>
            <a:pPr algn="l"/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Comprehensive data handling and user privacy terms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Details on data collection, storage, cookies, and third-party services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GDPR-aware language and user rights section</a:t>
            </a:r>
          </a:p>
          <a:p>
            <a:pPr algn="l"/>
          </a:p>
          <a:p>
            <a:pPr algn="l"/>
            <a:r>
              <a:rPr b="1" sz="2000">
                <a:solidFill>
                  <a:srgbClr val="04A2B9"/>
                </a:solidFill>
                <a:latin typeface="Calibri"/>
              </a:rPr>
              <a:t>3.  About Page</a:t>
            </a:r>
          </a:p>
          <a:p>
            <a:pPr algn="l"/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Project information, vision, and mission statement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Team member details with roles and contributions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•   Technology stack overview and open-source commitment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1436</Words>
  <Application>Microsoft Office PowerPoint</Application>
  <PresentationFormat>Widescreen</PresentationFormat>
  <Paragraphs>137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Aadil Parmar</cp:lastModifiedBy>
  <cp:revision>18</cp:revision>
  <dcterms:created xsi:type="dcterms:W3CDTF">2023-12-05T07:58:00Z</dcterms:created>
  <dcterms:modified xsi:type="dcterms:W3CDTF">2026-03-06T08:55:44Z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2024-01-10T05:57:01Z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bdeac77a-6f2d-4eed-8d0b-c87a56de673f</vt:lpwstr>
  </property>
  <property fmtid="{D5CDD505-2E9C-101B-9397-08002B2CF9AE}" pid="7" name="MSIP_Label_defa4170-0d19-0005-0004-bc88714345d2_ActionId">
    <vt:lpwstr>2a20089b-7995-43de-aaf1-a4eb65220026</vt:lpwstr>
  </property>
  <property fmtid="{D5CDD505-2E9C-101B-9397-08002B2CF9AE}" pid="8" name="MSIP_Label_defa4170-0d19-0005-0004-bc88714345d2_ContentBits">
    <vt:lpwstr>0</vt:lpwstr>
  </property>
  <property fmtid="{D5CDD505-2E9C-101B-9397-08002B2CF9AE}" pid="9" name="ICV">
    <vt:lpwstr>64191B4E558B4A0A9654A2ABC4C501E4_12</vt:lpwstr>
  </property>
  <property fmtid="{D5CDD505-2E9C-101B-9397-08002B2CF9AE}" pid="10" name="KSOProductBuildVer">
    <vt:lpwstr>1033-12.2.0.23196</vt:lpwstr>
  </property>
</Properties>
</file>